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al Black" panose="020B0A04020102020204" pitchFamily="34" charset="0"/>
      <p:bold r:id="rId13"/>
    </p:embeddedFont>
    <p:embeddedFont>
      <p:font typeface="Arial Rounded MT Bold" panose="020F0704030504030204" pitchFamily="34" charset="0"/>
      <p:regular r:id="rId14"/>
    </p:embeddedFont>
    <p:embeddedFont>
      <p:font typeface="Syne" panose="020B0604020202020204" charset="0"/>
      <p:regular r:id="rId15"/>
    </p:embeddedFont>
    <p:embeddedFont>
      <p:font typeface="Syne Extra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E8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shka Mahajan" userId="daaaa9a7320c5dd1" providerId="LiveId" clId="{9C6ACAE0-DEE8-4B41-A293-E786494F45B7}"/>
    <pc:docChg chg="modSld">
      <pc:chgData name="Tanishka Mahajan" userId="daaaa9a7320c5dd1" providerId="LiveId" clId="{9C6ACAE0-DEE8-4B41-A293-E786494F45B7}" dt="2025-11-09T09:28:02.922" v="109" actId="20577"/>
      <pc:docMkLst>
        <pc:docMk/>
      </pc:docMkLst>
      <pc:sldChg chg="modSp mod">
        <pc:chgData name="Tanishka Mahajan" userId="daaaa9a7320c5dd1" providerId="LiveId" clId="{9C6ACAE0-DEE8-4B41-A293-E786494F45B7}" dt="2025-11-04T15:04:51.202" v="1" actId="2711"/>
        <pc:sldMkLst>
          <pc:docMk/>
          <pc:sldMk cId="0" sldId="256"/>
        </pc:sldMkLst>
        <pc:spChg chg="mod">
          <ac:chgData name="Tanishka Mahajan" userId="daaaa9a7320c5dd1" providerId="LiveId" clId="{9C6ACAE0-DEE8-4B41-A293-E786494F45B7}" dt="2025-11-04T15:04:09.158" v="0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4:51.202" v="1" actId="271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Tanishka Mahajan" userId="daaaa9a7320c5dd1" providerId="LiveId" clId="{9C6ACAE0-DEE8-4B41-A293-E786494F45B7}" dt="2025-11-04T15:05:18.051" v="2" actId="2711"/>
        <pc:sldMkLst>
          <pc:docMk/>
          <pc:sldMk cId="0" sldId="257"/>
        </pc:sldMkLst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18.051" v="2" actId="2711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Tanishka Mahajan" userId="daaaa9a7320c5dd1" providerId="LiveId" clId="{9C6ACAE0-DEE8-4B41-A293-E786494F45B7}" dt="2025-11-09T09:28:02.922" v="109" actId="20577"/>
        <pc:sldMkLst>
          <pc:docMk/>
          <pc:sldMk cId="0" sldId="258"/>
        </pc:sldMkLst>
        <pc:spChg chg="mod">
          <ac:chgData name="Tanishka Mahajan" userId="daaaa9a7320c5dd1" providerId="LiveId" clId="{9C6ACAE0-DEE8-4B41-A293-E786494F45B7}" dt="2025-11-04T15:05:40.438" v="3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9T09:27:50.121" v="107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9T09:27:59.272" v="108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9T09:28:02.922" v="109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5:40.438" v="3" actId="2711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Tanishka Mahajan" userId="daaaa9a7320c5dd1" providerId="LiveId" clId="{9C6ACAE0-DEE8-4B41-A293-E786494F45B7}" dt="2025-11-04T17:00:50.583" v="51" actId="14100"/>
        <pc:sldMkLst>
          <pc:docMk/>
          <pc:sldMk cId="0" sldId="259"/>
        </pc:sldMkLst>
        <pc:spChg chg="mod">
          <ac:chgData name="Tanishka Mahajan" userId="daaaa9a7320c5dd1" providerId="LiveId" clId="{9C6ACAE0-DEE8-4B41-A293-E786494F45B7}" dt="2025-11-04T15:06:05.163" v="6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6:05.163" v="6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6:05.163" v="6" actId="2711"/>
          <ac:spMkLst>
            <pc:docMk/>
            <pc:sldMk cId="0" sldId="259"/>
            <ac:spMk id="7" creationId="{00000000-0000-0000-0000-000000000000}"/>
          </ac:spMkLst>
        </pc:spChg>
        <pc:picChg chg="mod">
          <ac:chgData name="Tanishka Mahajan" userId="daaaa9a7320c5dd1" providerId="LiveId" clId="{9C6ACAE0-DEE8-4B41-A293-E786494F45B7}" dt="2025-11-04T17:00:50.583" v="51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addSp modSp mod">
        <pc:chgData name="Tanishka Mahajan" userId="daaaa9a7320c5dd1" providerId="LiveId" clId="{9C6ACAE0-DEE8-4B41-A293-E786494F45B7}" dt="2025-11-04T17:19:53.325" v="106" actId="14100"/>
        <pc:sldMkLst>
          <pc:docMk/>
          <pc:sldMk cId="0" sldId="261"/>
        </pc:sldMkLst>
        <pc:spChg chg="mod">
          <ac:chgData name="Tanishka Mahajan" userId="daaaa9a7320c5dd1" providerId="LiveId" clId="{9C6ACAE0-DEE8-4B41-A293-E786494F45B7}" dt="2025-11-04T17:05:33.342" v="9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6:33.157" v="7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6:33.157" v="7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7:05:40.740" v="92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7:05:59.757" v="9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7:05:59.757" v="93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7:05:59.757" v="9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7:05:59.757" v="93" actId="1076"/>
          <ac:spMkLst>
            <pc:docMk/>
            <pc:sldMk cId="0" sldId="261"/>
            <ac:spMk id="14" creationId="{00000000-0000-0000-0000-000000000000}"/>
          </ac:spMkLst>
        </pc:spChg>
        <pc:picChg chg="add mod">
          <ac:chgData name="Tanishka Mahajan" userId="daaaa9a7320c5dd1" providerId="LiveId" clId="{9C6ACAE0-DEE8-4B41-A293-E786494F45B7}" dt="2025-11-04T17:19:53.325" v="106" actId="14100"/>
          <ac:picMkLst>
            <pc:docMk/>
            <pc:sldMk cId="0" sldId="261"/>
            <ac:picMk id="17" creationId="{1E434A65-33D9-7D9F-9AAC-E1197649EF43}"/>
          </ac:picMkLst>
        </pc:picChg>
      </pc:sldChg>
      <pc:sldChg chg="modSp mod">
        <pc:chgData name="Tanishka Mahajan" userId="daaaa9a7320c5dd1" providerId="LiveId" clId="{9C6ACAE0-DEE8-4B41-A293-E786494F45B7}" dt="2025-11-04T15:06:46.157" v="8" actId="2711"/>
        <pc:sldMkLst>
          <pc:docMk/>
          <pc:sldMk cId="0" sldId="262"/>
        </pc:sldMkLst>
        <pc:spChg chg="mod">
          <ac:chgData name="Tanishka Mahajan" userId="daaaa9a7320c5dd1" providerId="LiveId" clId="{9C6ACAE0-DEE8-4B41-A293-E786494F45B7}" dt="2025-11-04T15:06:46.157" v="8" actId="2711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Tanishka Mahajan" userId="daaaa9a7320c5dd1" providerId="LiveId" clId="{9C6ACAE0-DEE8-4B41-A293-E786494F45B7}" dt="2025-11-04T16:41:35.272" v="41" actId="14100"/>
        <pc:sldMkLst>
          <pc:docMk/>
          <pc:sldMk cId="0" sldId="263"/>
        </pc:sldMkLst>
        <pc:spChg chg="mod">
          <ac:chgData name="Tanishka Mahajan" userId="daaaa9a7320c5dd1" providerId="LiveId" clId="{9C6ACAE0-DEE8-4B41-A293-E786494F45B7}" dt="2025-11-04T15:08:16.294" v="13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8:16.294" v="13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0:53.052" v="37" actId="20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8:16.294" v="13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1:10.437" v="39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8:16.294" v="13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1:16.484" v="40" actId="20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8:41.954" v="15" actId="2711"/>
          <ac:spMkLst>
            <pc:docMk/>
            <pc:sldMk cId="0" sldId="263"/>
            <ac:spMk id="1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1:35.272" v="41" actId="14100"/>
          <ac:spMkLst>
            <pc:docMk/>
            <pc:sldMk cId="0" sldId="263"/>
            <ac:spMk id="17" creationId="{3CF2C335-1869-D33D-4CE0-E9E3EB675792}"/>
          </ac:spMkLst>
        </pc:spChg>
        <pc:graphicFrameChg chg="mod">
          <ac:chgData name="Tanishka Mahajan" userId="daaaa9a7320c5dd1" providerId="LiveId" clId="{9C6ACAE0-DEE8-4B41-A293-E786494F45B7}" dt="2025-11-04T16:38:23.554" v="21" actId="2085"/>
          <ac:graphicFrameMkLst>
            <pc:docMk/>
            <pc:sldMk cId="0" sldId="263"/>
            <ac:graphicFrameMk id="22" creationId="{E3CA1CFC-3081-C159-6781-271BDC2A4E69}"/>
          </ac:graphicFrameMkLst>
        </pc:graphicFrameChg>
      </pc:sldChg>
      <pc:sldChg chg="modSp mod">
        <pc:chgData name="Tanishka Mahajan" userId="daaaa9a7320c5dd1" providerId="LiveId" clId="{9C6ACAE0-DEE8-4B41-A293-E786494F45B7}" dt="2025-11-04T17:11:03.915" v="97" actId="14100"/>
        <pc:sldMkLst>
          <pc:docMk/>
          <pc:sldMk cId="0" sldId="264"/>
        </pc:sldMkLst>
        <pc:spChg chg="mod">
          <ac:chgData name="Tanishka Mahajan" userId="daaaa9a7320c5dd1" providerId="LiveId" clId="{9C6ACAE0-DEE8-4B41-A293-E786494F45B7}" dt="2025-11-04T15:07:49.240" v="12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49.240" v="12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49.240" v="12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49.240" v="12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3:02.129" v="45" actId="1410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49.240" v="12" actId="2711"/>
          <ac:spMkLst>
            <pc:docMk/>
            <pc:sldMk cId="0" sldId="264"/>
            <ac:spMk id="21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2:41.395" v="42" actId="1410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6:44:13.502" v="46" actId="1076"/>
          <ac:spMkLst>
            <pc:docMk/>
            <pc:sldMk cId="0" sldId="264"/>
            <ac:spMk id="24" creationId="{C628AA18-EE4B-95EC-33DD-8A5BE471AC3E}"/>
          </ac:spMkLst>
        </pc:spChg>
        <pc:picChg chg="mod">
          <ac:chgData name="Tanishka Mahajan" userId="daaaa9a7320c5dd1" providerId="LiveId" clId="{9C6ACAE0-DEE8-4B41-A293-E786494F45B7}" dt="2025-11-04T17:11:03.915" v="97" actId="14100"/>
          <ac:picMkLst>
            <pc:docMk/>
            <pc:sldMk cId="0" sldId="264"/>
            <ac:picMk id="23" creationId="{00000000-0000-0000-0000-000000000000}"/>
          </ac:picMkLst>
        </pc:picChg>
      </pc:sldChg>
      <pc:sldChg chg="modSp mod">
        <pc:chgData name="Tanishka Mahajan" userId="daaaa9a7320c5dd1" providerId="LiveId" clId="{9C6ACAE0-DEE8-4B41-A293-E786494F45B7}" dt="2025-11-04T15:07:30.586" v="10" actId="2711"/>
        <pc:sldMkLst>
          <pc:docMk/>
          <pc:sldMk cId="0" sldId="265"/>
        </pc:sldMkLst>
        <pc:spChg chg="mod">
          <ac:chgData name="Tanishka Mahajan" userId="daaaa9a7320c5dd1" providerId="LiveId" clId="{9C6ACAE0-DEE8-4B41-A293-E786494F45B7}" dt="2025-11-04T15:07:30.586" v="10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09.190" v="9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09.190" v="9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09.190" v="9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30.586" v="10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09.190" v="9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30.586" v="10" actId="271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Tanishka Mahajan" userId="daaaa9a7320c5dd1" providerId="LiveId" clId="{9C6ACAE0-DEE8-4B41-A293-E786494F45B7}" dt="2025-11-04T15:07:09.190" v="9" actId="2711"/>
          <ac:spMkLst>
            <pc:docMk/>
            <pc:sldMk cId="0" sldId="265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148047900262466"/>
          <c:y val="8.7363281249999994E-2"/>
          <c:w val="0.56224747785433071"/>
          <c:h val="0.843371216781496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CF-4C3D-82A2-4C0D5DC3BD5E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78-42D6-A069-9A6A091BEA78}"/>
              </c:ext>
            </c:extLst>
          </c:dPt>
          <c:dPt>
            <c:idx val="2"/>
            <c:bubble3D val="0"/>
            <c:spPr>
              <a:solidFill>
                <a:schemeClr val="accent6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78-42D6-A069-9A6A091BEA78}"/>
              </c:ext>
            </c:extLst>
          </c:dPt>
          <c:cat>
            <c:strRef>
              <c:f>Sheet1!$A$2:$A$4</c:f>
              <c:strCache>
                <c:ptCount val="3"/>
                <c:pt idx="0">
                  <c:v>Loyal Customers</c:v>
                </c:pt>
                <c:pt idx="1">
                  <c:v>Returning Buyers</c:v>
                </c:pt>
                <c:pt idx="2">
                  <c:v>New Shoppers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CF-4C3D-82A2-4C0D5DC3B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7.8125E-3"/>
          <c:y val="0.4639320435757549"/>
          <c:w val="0.18329990977690289"/>
          <c:h val="0.31710495828362539"/>
        </c:manualLayout>
      </c:layout>
      <c:overlay val="0"/>
      <c:spPr>
        <a:noFill/>
        <a:ln w="0">
          <a:solidFill>
            <a:schemeClr val="accent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54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274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Customer Shopping Behaviour Analysis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50060"/>
            <a:ext cx="7556421" cy="128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Examining 3,900 purchases across multiple product categories to uncover insights on spending habits, customer segmentation, and subscription patterns for strategic business decisions.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852F8-C1D2-9CDB-402E-1ABCAC27D396}"/>
              </a:ext>
            </a:extLst>
          </p:cNvPr>
          <p:cNvSpPr/>
          <p:nvPr/>
        </p:nvSpPr>
        <p:spPr>
          <a:xfrm>
            <a:off x="12712390" y="7694341"/>
            <a:ext cx="1918010" cy="5352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8002"/>
            <a:ext cx="81094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375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045607" y="3465552"/>
            <a:ext cx="3654981" cy="35433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5597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Comprehensive transaction records analyzed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78694" y="246632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235893" y="395597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Rich feature set covering demographics and behavior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77995" y="243375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9677995" y="395597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Only in Review Rating column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96988" y="5196304"/>
            <a:ext cx="5710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Customer Demographics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43810" y="582418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Age, Gender, Location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343810" y="626637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Subscription Status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40119" y="5196304"/>
            <a:ext cx="45087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Shopping Behaviour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80901" y="56083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Discount Applied, Promo Codes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80901" y="60505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Previous Purchases, Frequency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88519" y="6529619"/>
            <a:ext cx="32283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Review Rating, Shipping Type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5F0B1-050A-B9DD-31EF-13E75B161334}"/>
              </a:ext>
            </a:extLst>
          </p:cNvPr>
          <p:cNvSpPr/>
          <p:nvPr/>
        </p:nvSpPr>
        <p:spPr>
          <a:xfrm>
            <a:off x="12712390" y="7694341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B9F5926-BA3F-00A2-4F6C-8AD34E1796AD}"/>
              </a:ext>
            </a:extLst>
          </p:cNvPr>
          <p:cNvSpPr/>
          <p:nvPr/>
        </p:nvSpPr>
        <p:spPr>
          <a:xfrm>
            <a:off x="9929814" y="3465552"/>
            <a:ext cx="3654981" cy="35433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</a:rPr>
              <a:t>Missing Values</a:t>
            </a:r>
            <a:endParaRPr lang="en-US" sz="22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64A80BC-2E3D-8C35-C9C9-899166C54CA2}"/>
              </a:ext>
            </a:extLst>
          </p:cNvPr>
          <p:cNvSpPr/>
          <p:nvPr/>
        </p:nvSpPr>
        <p:spPr>
          <a:xfrm>
            <a:off x="5790103" y="3500639"/>
            <a:ext cx="3654981" cy="35433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0" scaled="1"/>
            <a:tileRect/>
          </a:gra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</a:rPr>
              <a:t>Data Columns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3384" y="648295"/>
            <a:ext cx="7870031" cy="113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 Preparation Journey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23384" y="2058710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23384" y="2345055"/>
            <a:ext cx="7870031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6" name="Text 3"/>
          <p:cNvSpPr/>
          <p:nvPr/>
        </p:nvSpPr>
        <p:spPr>
          <a:xfrm>
            <a:off x="6123384" y="2481739"/>
            <a:ext cx="4963954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Arial Rounded MT Bold" panose="020F0704030504030204" pitchFamily="34" charset="0"/>
                <a:ea typeface="Syne Extra Bold" pitchFamily="34" charset="-122"/>
                <a:cs typeface="Syne Extra Bold" pitchFamily="34" charset="-120"/>
              </a:rPr>
              <a:t>Data Loading &amp; Exploration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3384" y="2875240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Imported dataset using </a:t>
            </a: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pandas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, examined structure with </a:t>
            </a: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df.info() 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and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summary statistics</a:t>
            </a:r>
            <a:endParaRPr lang="en-US" dirty="0">
              <a:solidFill>
                <a:srgbClr val="92D05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3384" y="3484840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3384" y="3771186"/>
            <a:ext cx="7870031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0" name="Text 7"/>
          <p:cNvSpPr/>
          <p:nvPr/>
        </p:nvSpPr>
        <p:spPr>
          <a:xfrm>
            <a:off x="6123384" y="3907869"/>
            <a:ext cx="404002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Missing Data Handling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123384" y="4301371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Imputed </a:t>
            </a: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missing Review Rating 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values using median rating per product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category</a:t>
            </a:r>
            <a:endParaRPr lang="en-US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23384" y="4910971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3384" y="5197316"/>
            <a:ext cx="7870031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4" name="Text 11"/>
          <p:cNvSpPr/>
          <p:nvPr/>
        </p:nvSpPr>
        <p:spPr>
          <a:xfrm>
            <a:off x="6123384" y="5334000"/>
            <a:ext cx="362926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123384" y="5727502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Created </a:t>
            </a: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age_group 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and </a:t>
            </a:r>
            <a:r>
              <a:rPr lang="en-US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purchase_frequency_days 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columns for deeper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analysis</a:t>
            </a:r>
            <a:endParaRPr lang="en-US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23384" y="6337102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3384" y="6623447"/>
            <a:ext cx="7870031" cy="22860"/>
          </a:xfrm>
          <a:prstGeom prst="rect">
            <a:avLst/>
          </a:prstGeom>
          <a:solidFill>
            <a:srgbClr val="A9F00F"/>
          </a:solidFill>
          <a:ln/>
        </p:spPr>
      </p:sp>
      <p:sp>
        <p:nvSpPr>
          <p:cNvPr id="18" name="Text 15"/>
          <p:cNvSpPr/>
          <p:nvPr/>
        </p:nvSpPr>
        <p:spPr>
          <a:xfrm>
            <a:off x="6123384" y="6760131"/>
            <a:ext cx="3864650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123384" y="7153632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Times New Roman" panose="02020603050405020304" pitchFamily="18" charset="0"/>
              </a:rPr>
              <a:t>Connected to MY SQL and loaded cleaned data for SQL analysis</a:t>
            </a:r>
            <a:endParaRPr lang="en-US" dirty="0"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7A1671-9791-A64E-DE49-D9B8ADE540DB}"/>
              </a:ext>
            </a:extLst>
          </p:cNvPr>
          <p:cNvSpPr/>
          <p:nvPr/>
        </p:nvSpPr>
        <p:spPr>
          <a:xfrm>
            <a:off x="12712390" y="7694341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599837"/>
            <a:ext cx="7321391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Revenue Insights</a:t>
            </a:r>
            <a:endParaRPr lang="en-US" sz="42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386" y="1713011"/>
            <a:ext cx="7321390" cy="4283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429" y="6428065"/>
            <a:ext cx="7649170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Male customers generate </a:t>
            </a:r>
            <a:r>
              <a:rPr lang="en-US" sz="1700" b="1" dirty="0">
                <a:solidFill>
                  <a:srgbClr val="A9F00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$157,890</a:t>
            </a: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in revenue compared to </a:t>
            </a:r>
            <a:r>
              <a:rPr lang="en-US" sz="1700" b="1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$75,191</a:t>
            </a: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from female customers, revealing significant gender-based spending differences.</a:t>
            </a:r>
            <a:endParaRPr lang="en-US" sz="17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52428" y="1826776"/>
            <a:ext cx="4922044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High-Spending Discount Users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952428" y="2771536"/>
            <a:ext cx="4922044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Identified </a:t>
            </a:r>
            <a:r>
              <a:rPr lang="en-US" sz="1700" b="1" dirty="0">
                <a:solidFill>
                  <a:srgbClr val="A9F00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839 customers</a:t>
            </a: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who used discounts but still spent above average purchase amount.</a:t>
            </a:r>
            <a:endParaRPr lang="en-US" sz="17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952428" y="3665696"/>
            <a:ext cx="4922044" cy="69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These savvy shoppers represent a key segment for targeted promotions.</a:t>
            </a:r>
            <a:endParaRPr lang="en-US" sz="1700" dirty="0">
              <a:latin typeface="Arial Rounded MT Bold" panose="020F070403050403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428" y="4563904"/>
            <a:ext cx="4922044" cy="29532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6B95AA-7EF9-C65A-7D09-04FBBB50512E}"/>
              </a:ext>
            </a:extLst>
          </p:cNvPr>
          <p:cNvSpPr/>
          <p:nvPr/>
        </p:nvSpPr>
        <p:spPr>
          <a:xfrm>
            <a:off x="12712390" y="7694341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0207"/>
            <a:ext cx="9264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62614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97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28409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004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Gloves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9472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Rating: </a:t>
            </a:r>
            <a:r>
              <a:rPr lang="en-US" sz="1750" b="1" dirty="0">
                <a:solidFill>
                  <a:srgbClr val="A9F00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3.86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1862614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097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562" y="228409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004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Sandals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49472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Rating: </a:t>
            </a:r>
            <a:r>
              <a:rPr lang="en-US" sz="1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3.84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1862614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097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61734" y="228409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004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Boots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49472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Rating: </a:t>
            </a:r>
            <a:r>
              <a:rPr lang="en-US" sz="1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3.82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318873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45533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4740354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546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Hat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595098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Rating: </a:t>
            </a:r>
            <a:r>
              <a:rPr lang="en-US" sz="1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3.80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318873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45533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9F00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50148" y="4740354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546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Skirt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595098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Rating: </a:t>
            </a:r>
            <a:r>
              <a:rPr lang="en-US" sz="17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3.78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93790" y="680346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Customer satisfaction scores reveal which products deliver the best experience and should be featured prominently in marketing campaigns.</a:t>
            </a:r>
            <a:endParaRPr lang="en-US" sz="17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622C8D-E2B1-D884-E30E-DBBF46CF24D7}"/>
              </a:ext>
            </a:extLst>
          </p:cNvPr>
          <p:cNvSpPr/>
          <p:nvPr/>
        </p:nvSpPr>
        <p:spPr>
          <a:xfrm>
            <a:off x="12712390" y="7694341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922" y="406956"/>
            <a:ext cx="9447252" cy="46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Shipping &amp; Subscription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419227" y="4489403"/>
            <a:ext cx="7430947" cy="620005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13500000" scaled="1"/>
            <a:tileRect/>
          </a:gra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2000" b="1" dirty="0">
              <a:solidFill>
                <a:srgbClr val="F0F4F1"/>
              </a:solidFill>
              <a:latin typeface="Arial Rounded MT Bold" panose="020F0704030504030204" pitchFamily="34" charset="0"/>
              <a:ea typeface="Syne Extra Bold" pitchFamily="34" charset="-122"/>
              <a:cs typeface="Syne Extra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16079" y="2598539"/>
            <a:ext cx="1820228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$60.48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411" y="1673662"/>
            <a:ext cx="2219801" cy="22198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7922" y="4078248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Express Shipping Average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05846" y="2616175"/>
            <a:ext cx="1820228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$58.46</a:t>
            </a:r>
            <a:endParaRPr lang="en-US" sz="2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6060" y="1660387"/>
            <a:ext cx="2219801" cy="22198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7571" y="4064973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Standard Shipping Average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826311" y="4697662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Express shipping customers spend slightly more per transaction</a:t>
            </a:r>
            <a:r>
              <a:rPr lang="en-US" sz="11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15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4735" y="5619452"/>
            <a:ext cx="4001572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F0F4F1"/>
                </a:solidFill>
                <a:latin typeface="Arial Rounded MT Bold" panose="020F0704030504030204" pitchFamily="34" charset="0"/>
                <a:ea typeface="Syne Extra Bold" pitchFamily="34" charset="-122"/>
                <a:cs typeface="Syne Extra Bold" pitchFamily="34" charset="-120"/>
              </a:rPr>
              <a:t>Subscription Status Impact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34735" y="5998547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b="1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Subscribers: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1,053 customers, $59.49 avg spend, $62,645 total revenue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4735" y="6287036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b="1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Non-subscribers:</a:t>
            </a:r>
            <a:r>
              <a:rPr lang="en-US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2,847 customers, $59.87 avg spend, $170,436 total revenue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34735" y="6656844"/>
            <a:ext cx="6616779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Similar spending patterns but </a:t>
            </a:r>
            <a:r>
              <a:rPr lang="en-US" sz="1400" b="1" dirty="0">
                <a:solidFill>
                  <a:srgbClr val="A9F00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huge untapped subscription potential</a:t>
            </a: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EB37D9-D422-2A8D-B005-55BC589BE4AF}"/>
              </a:ext>
            </a:extLst>
          </p:cNvPr>
          <p:cNvSpPr/>
          <p:nvPr/>
        </p:nvSpPr>
        <p:spPr>
          <a:xfrm>
            <a:off x="12712390" y="7694341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434A65-33D9-7D9F-9AAC-E1197649EF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94095" y="5444937"/>
            <a:ext cx="4694337" cy="2667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73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Discount-Dependent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11855"/>
            <a:ext cx="3036927" cy="283488"/>
          </a:xfrm>
          <a:prstGeom prst="roundRect">
            <a:avLst>
              <a:gd name="adj" fmla="val 3360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411855"/>
            <a:ext cx="1518404" cy="283488"/>
          </a:xfrm>
          <a:prstGeom prst="roundRect">
            <a:avLst>
              <a:gd name="adj" fmla="val 33606"/>
            </a:avLst>
          </a:prstGeom>
          <a:solidFill>
            <a:srgbClr val="A9F00F"/>
          </a:solidFill>
          <a:ln/>
        </p:spPr>
      </p:sp>
      <p:sp>
        <p:nvSpPr>
          <p:cNvPr id="5" name="Text 3"/>
          <p:cNvSpPr/>
          <p:nvPr/>
        </p:nvSpPr>
        <p:spPr>
          <a:xfrm>
            <a:off x="4000738" y="3411855"/>
            <a:ext cx="95166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50%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9787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Hat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35893" y="3411855"/>
            <a:ext cx="2246114" cy="283488"/>
          </a:xfrm>
          <a:prstGeom prst="roundRect">
            <a:avLst>
              <a:gd name="adj" fmla="val 3360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35893" y="3411855"/>
            <a:ext cx="1115378" cy="283488"/>
          </a:xfrm>
          <a:prstGeom prst="roundRect">
            <a:avLst>
              <a:gd name="adj" fmla="val 33606"/>
            </a:avLst>
          </a:prstGeom>
          <a:solidFill>
            <a:srgbClr val="A9F00F"/>
          </a:solidFill>
          <a:ln/>
        </p:spPr>
      </p:sp>
      <p:sp>
        <p:nvSpPr>
          <p:cNvPr id="9" name="Text 7"/>
          <p:cNvSpPr/>
          <p:nvPr/>
        </p:nvSpPr>
        <p:spPr>
          <a:xfrm>
            <a:off x="7652028" y="3411855"/>
            <a:ext cx="174248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49.66%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39787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77995" y="3411855"/>
            <a:ext cx="2259449" cy="283488"/>
          </a:xfrm>
          <a:prstGeom prst="roundRect">
            <a:avLst>
              <a:gd name="adj" fmla="val 3360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995" y="3411855"/>
            <a:ext cx="1108710" cy="283488"/>
          </a:xfrm>
          <a:prstGeom prst="roundRect">
            <a:avLst>
              <a:gd name="adj" fmla="val 33606"/>
            </a:avLst>
          </a:prstGeom>
          <a:solidFill>
            <a:srgbClr val="A9F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07466" y="3411855"/>
            <a:ext cx="172914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49.07%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77995" y="39787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Coat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3790" y="4900017"/>
            <a:ext cx="2427684" cy="283488"/>
          </a:xfrm>
          <a:prstGeom prst="roundRect">
            <a:avLst>
              <a:gd name="adj" fmla="val 3360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790" y="4900017"/>
            <a:ext cx="1169313" cy="283488"/>
          </a:xfrm>
          <a:prstGeom prst="roundRect">
            <a:avLst>
              <a:gd name="adj" fmla="val 33606"/>
            </a:avLst>
          </a:prstGeom>
          <a:solidFill>
            <a:srgbClr val="A9F00F"/>
          </a:solidFill>
          <a:ln/>
        </p:spPr>
      </p:sp>
      <p:sp>
        <p:nvSpPr>
          <p:cNvPr id="17" name="Text 15"/>
          <p:cNvSpPr/>
          <p:nvPr/>
        </p:nvSpPr>
        <p:spPr>
          <a:xfrm>
            <a:off x="3391495" y="4900017"/>
            <a:ext cx="156090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48.17%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466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Sweater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35893" y="4900017"/>
            <a:ext cx="2269569" cy="283488"/>
          </a:xfrm>
          <a:prstGeom prst="roundRect">
            <a:avLst>
              <a:gd name="adj" fmla="val 33606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5893" y="4900017"/>
            <a:ext cx="1075015" cy="283488"/>
          </a:xfrm>
          <a:prstGeom prst="roundRect">
            <a:avLst>
              <a:gd name="adj" fmla="val 33606"/>
            </a:avLst>
          </a:prstGeom>
          <a:solidFill>
            <a:srgbClr val="A9F00F"/>
          </a:solidFill>
          <a:ln/>
        </p:spPr>
      </p:sp>
      <p:sp>
        <p:nvSpPr>
          <p:cNvPr id="21" name="Text 19"/>
          <p:cNvSpPr/>
          <p:nvPr/>
        </p:nvSpPr>
        <p:spPr>
          <a:xfrm>
            <a:off x="7675483" y="4900017"/>
            <a:ext cx="171902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47.37%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35893" y="5466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3790" y="60763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These products show the highest percentage of discounted purchases, indicating price sensitivity. Review discount strategies to maintain profitability while driving sales.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AA7FAC-CB64-18BF-45E3-CC6272EBB3CE}"/>
              </a:ext>
            </a:extLst>
          </p:cNvPr>
          <p:cNvSpPr/>
          <p:nvPr/>
        </p:nvSpPr>
        <p:spPr>
          <a:xfrm>
            <a:off x="12712390" y="7695010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1737360" y="6170412"/>
            <a:ext cx="2157889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Loyal Customers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737360" y="6500930"/>
            <a:ext cx="4030980" cy="477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DE834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3,116 customers</a:t>
            </a:r>
            <a:r>
              <a:rPr lang="en-US" sz="1600" dirty="0">
                <a:solidFill>
                  <a:srgbClr val="7DE834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form the backbone of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revenue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02970" y="7593746"/>
            <a:ext cx="1372743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Among repeat buyers (&gt;5 purchases): </a:t>
            </a:r>
            <a:r>
              <a:rPr lang="en-US" sz="1200" b="1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958 are subscribers</a:t>
            </a:r>
            <a:r>
              <a:rPr lang="en-US" sz="12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vs. </a:t>
            </a:r>
            <a:r>
              <a:rPr lang="en-US" sz="1200" b="1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2,518 non-subscribers</a:t>
            </a:r>
            <a:r>
              <a:rPr lang="en-US" sz="12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, revealing significant subscription conversion potential</a:t>
            </a:r>
            <a:r>
              <a:rPr lang="en-US" sz="10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.</a:t>
            </a:r>
            <a:endParaRPr lang="en-US" sz="10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3CA1CFC-3081-C159-6781-271BDC2A4E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7271970"/>
              </p:ext>
            </p:extLst>
          </p:nvPr>
        </p:nvGraphicFramePr>
        <p:xfrm>
          <a:off x="2467015" y="869556"/>
          <a:ext cx="9753600" cy="5222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 0"/>
          <p:cNvSpPr/>
          <p:nvPr/>
        </p:nvSpPr>
        <p:spPr>
          <a:xfrm>
            <a:off x="451485" y="354687"/>
            <a:ext cx="6346269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Customer Segmentation</a:t>
            </a:r>
            <a:endParaRPr lang="en-US" sz="2500" dirty="0">
              <a:latin typeface="Arial Black" panose="020B0A04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94570" y="8574048"/>
            <a:ext cx="259318" cy="12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78893" y="6170412"/>
            <a:ext cx="2170152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Returning Buyers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8893" y="6500929"/>
            <a:ext cx="3374707" cy="48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DE834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701 customers</a:t>
            </a:r>
            <a:r>
              <a:rPr lang="en-US" sz="1600" dirty="0">
                <a:solidFill>
                  <a:srgbClr val="7DE834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show promise for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loyalty conversion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020425" y="6170412"/>
            <a:ext cx="1876663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New Shoppers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020425" y="6500930"/>
            <a:ext cx="3374707" cy="477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DE834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83 customers</a:t>
            </a:r>
            <a:r>
              <a:rPr lang="en-US" sz="1600" dirty="0">
                <a:solidFill>
                  <a:srgbClr val="92D050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 </a:t>
            </a: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represent growth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opportunity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2C335-1869-D33D-4CE0-E9E3EB675792}"/>
              </a:ext>
            </a:extLst>
          </p:cNvPr>
          <p:cNvSpPr/>
          <p:nvPr/>
        </p:nvSpPr>
        <p:spPr>
          <a:xfrm>
            <a:off x="12712390" y="7800200"/>
            <a:ext cx="1918010" cy="3125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2279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Category Performance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835" y="892969"/>
            <a:ext cx="6861691" cy="1023938"/>
          </a:xfrm>
          <a:prstGeom prst="roundRect">
            <a:avLst>
              <a:gd name="adj" fmla="val 4652"/>
            </a:avLst>
          </a:prstGeom>
          <a:solidFill>
            <a:srgbClr val="152025">
              <a:alpha val="95000"/>
            </a:srgbClr>
          </a:solidFill>
          <a:ln w="15240">
            <a:solidFill>
              <a:srgbClr val="6D9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2075" y="908209"/>
            <a:ext cx="6831211" cy="340162"/>
          </a:xfrm>
          <a:prstGeom prst="roundRect">
            <a:avLst>
              <a:gd name="adj" fmla="val 8627"/>
            </a:avLst>
          </a:prstGeom>
          <a:solidFill>
            <a:srgbClr val="547808"/>
          </a:solidFill>
          <a:ln/>
        </p:spPr>
      </p:sp>
      <p:sp>
        <p:nvSpPr>
          <p:cNvPr id="5" name="Text 3"/>
          <p:cNvSpPr/>
          <p:nvPr/>
        </p:nvSpPr>
        <p:spPr>
          <a:xfrm>
            <a:off x="3742611" y="96809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5423" y="136171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Accessories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5423" y="1606867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Top sellers:</a:t>
            </a: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Jewelry (171), Sunglasses (161), Belt (161)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71874" y="892969"/>
            <a:ext cx="6861691" cy="1023938"/>
          </a:xfrm>
          <a:prstGeom prst="roundRect">
            <a:avLst>
              <a:gd name="adj" fmla="val 4652"/>
            </a:avLst>
          </a:prstGeom>
          <a:solidFill>
            <a:srgbClr val="152025">
              <a:alpha val="95000"/>
            </a:srgbClr>
          </a:solidFill>
          <a:ln w="15240">
            <a:solidFill>
              <a:srgbClr val="6D91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7114" y="908209"/>
            <a:ext cx="6831211" cy="340162"/>
          </a:xfrm>
          <a:prstGeom prst="roundRect">
            <a:avLst>
              <a:gd name="adj" fmla="val 8627"/>
            </a:avLst>
          </a:prstGeom>
          <a:solidFill>
            <a:srgbClr val="547808"/>
          </a:solidFill>
          <a:ln/>
        </p:spPr>
      </p:sp>
      <p:sp>
        <p:nvSpPr>
          <p:cNvPr id="10" name="Text 8"/>
          <p:cNvSpPr/>
          <p:nvPr/>
        </p:nvSpPr>
        <p:spPr>
          <a:xfrm>
            <a:off x="10717649" y="96809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00461" y="136171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Clothing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00461" y="1606867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Top sellers:</a:t>
            </a: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Blouse (171), Pants (171), Shirt (169)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6835" y="2030254"/>
            <a:ext cx="6861691" cy="1023938"/>
          </a:xfrm>
          <a:prstGeom prst="roundRect">
            <a:avLst>
              <a:gd name="adj" fmla="val 4652"/>
            </a:avLst>
          </a:prstGeom>
          <a:solidFill>
            <a:srgbClr val="152025">
              <a:alpha val="95000"/>
            </a:srgbClr>
          </a:solidFill>
          <a:ln w="15240">
            <a:solidFill>
              <a:srgbClr val="6D91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2075" y="2045494"/>
            <a:ext cx="6831211" cy="340162"/>
          </a:xfrm>
          <a:prstGeom prst="roundRect">
            <a:avLst>
              <a:gd name="adj" fmla="val 8627"/>
            </a:avLst>
          </a:prstGeom>
          <a:solidFill>
            <a:srgbClr val="547808"/>
          </a:solidFill>
          <a:ln/>
        </p:spPr>
      </p:sp>
      <p:sp>
        <p:nvSpPr>
          <p:cNvPr id="15" name="Text 13"/>
          <p:cNvSpPr/>
          <p:nvPr/>
        </p:nvSpPr>
        <p:spPr>
          <a:xfrm>
            <a:off x="3742611" y="210538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423" y="24990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Footwear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5423" y="2744152"/>
            <a:ext cx="660451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Top sellers:</a:t>
            </a: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Sandals (160), Shoes (150), Sneakers (145)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87114" y="2005012"/>
            <a:ext cx="6861691" cy="1023938"/>
          </a:xfrm>
          <a:prstGeom prst="roundRect">
            <a:avLst>
              <a:gd name="adj" fmla="val 4652"/>
            </a:avLst>
          </a:prstGeom>
          <a:solidFill>
            <a:srgbClr val="152025">
              <a:alpha val="95000"/>
            </a:srgbClr>
          </a:solidFill>
          <a:ln w="15240">
            <a:solidFill>
              <a:srgbClr val="6D91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7114" y="2045494"/>
            <a:ext cx="6831211" cy="340162"/>
          </a:xfrm>
          <a:prstGeom prst="roundRect">
            <a:avLst>
              <a:gd name="adj" fmla="val 8627"/>
            </a:avLst>
          </a:prstGeom>
          <a:solidFill>
            <a:srgbClr val="54780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17649" y="2105382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00461" y="24990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Outerwear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00461" y="2744152"/>
            <a:ext cx="6604516" cy="41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Top sellers:</a:t>
            </a:r>
            <a:r>
              <a:rPr lang="en-US" sz="1600" dirty="0">
                <a:solidFill>
                  <a:srgbClr val="D7E5D8"/>
                </a:solidFill>
                <a:ea typeface="Syne" pitchFamily="34" charset="-122"/>
                <a:cs typeface="Syne" pitchFamily="34" charset="-120"/>
              </a:rPr>
              <a:t> Jacket (163), Coat (161)</a:t>
            </a:r>
            <a:endParaRPr lang="en-US" sz="1600" dirty="0"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387445"/>
            <a:ext cx="12633960" cy="458254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28AA18-EE4B-95EC-33DD-8A5BE471AC3E}"/>
              </a:ext>
            </a:extLst>
          </p:cNvPr>
          <p:cNvSpPr/>
          <p:nvPr/>
        </p:nvSpPr>
        <p:spPr>
          <a:xfrm>
            <a:off x="12712390" y="7806724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937" y="622221"/>
            <a:ext cx="7868126" cy="113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4F1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Strategic Recommendations</a:t>
            </a:r>
            <a:endParaRPr lang="en-US" sz="3550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7937" y="2034540"/>
            <a:ext cx="3842980" cy="1933218"/>
          </a:xfrm>
          <a:prstGeom prst="roundRect">
            <a:avLst>
              <a:gd name="adj" fmla="val 39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7723" y="2224326"/>
            <a:ext cx="3463409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Increase Subscriptions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27723" y="2903220"/>
            <a:ext cx="3463409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Offer special perks and personalized deals to attract more subscribers from the 2,847 non-subscribers.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63083" y="2034540"/>
            <a:ext cx="3842980" cy="1933218"/>
          </a:xfrm>
          <a:prstGeom prst="roundRect">
            <a:avLst>
              <a:gd name="adj" fmla="val 396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52868" y="2224326"/>
            <a:ext cx="3463409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Enhance Loyalty Programs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2868" y="2903220"/>
            <a:ext cx="3463409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Provide incentives for the 701 returning customers to convert them into loyal buyers.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7937" y="4149923"/>
            <a:ext cx="7868126" cy="1065252"/>
          </a:xfrm>
          <a:prstGeom prst="roundRect">
            <a:avLst>
              <a:gd name="adj" fmla="val 718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723" y="4339709"/>
            <a:ext cx="5274231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Optimize Discount Strategies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27723" y="4733806"/>
            <a:ext cx="7488555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Review policies for high-discount products like hats and sneakers to maintain profitability.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37" y="5420201"/>
            <a:ext cx="911304" cy="10935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1407" y="5602367"/>
            <a:ext cx="50300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Improve Product Promotion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731407" y="5996464"/>
            <a:ext cx="677465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Feature top-rated items like gloves and sandals prominently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7" y="6513790"/>
            <a:ext cx="911304" cy="109358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1407" y="6695956"/>
            <a:ext cx="482774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E5D8"/>
                </a:solidFill>
                <a:latin typeface="Arial Black" panose="020B0A04020102020204" pitchFamily="34" charset="0"/>
                <a:ea typeface="Syne Extra Bold" pitchFamily="34" charset="-122"/>
                <a:cs typeface="Syne Extra Bold" pitchFamily="34" charset="-120"/>
              </a:rPr>
              <a:t>Refine Targeted Marketing</a:t>
            </a:r>
            <a:endParaRPr lang="en-US" sz="1750" dirty="0">
              <a:latin typeface="Arial Black" panose="020B0A040201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731407" y="7090053"/>
            <a:ext cx="677465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7E5D8"/>
                </a:solidFill>
                <a:latin typeface="Arial Rounded MT Bold" panose="020F0704030504030204" pitchFamily="34" charset="0"/>
                <a:ea typeface="Syne" pitchFamily="34" charset="-122"/>
                <a:cs typeface="Syne" pitchFamily="34" charset="-120"/>
              </a:rPr>
              <a:t>Focus on young adults and express shipping users</a:t>
            </a:r>
            <a:endParaRPr lang="en-US" sz="1400" dirty="0">
              <a:latin typeface="Arial Rounded MT Bold" panose="020F07040305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1CF425-7DCD-EA9C-ECE4-3857332AE4E8}"/>
              </a:ext>
            </a:extLst>
          </p:cNvPr>
          <p:cNvSpPr/>
          <p:nvPr/>
        </p:nvSpPr>
        <p:spPr>
          <a:xfrm>
            <a:off x="9304226" y="6304580"/>
            <a:ext cx="1918010" cy="4184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546</Words>
  <Application>Microsoft Office PowerPoint</Application>
  <PresentationFormat>Custom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Black</vt:lpstr>
      <vt:lpstr>Arial Rounded MT Bold</vt:lpstr>
      <vt:lpstr>Syne Light</vt:lpstr>
      <vt:lpstr>Syne Extra Bold</vt:lpstr>
      <vt:lpstr>Syne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Tanishka Mahajan</dc:creator>
  <cp:lastModifiedBy>Tanishka Mahajan</cp:lastModifiedBy>
  <cp:revision>2</cp:revision>
  <dcterms:created xsi:type="dcterms:W3CDTF">2025-11-04T14:20:51Z</dcterms:created>
  <dcterms:modified xsi:type="dcterms:W3CDTF">2025-11-09T09:28:09Z</dcterms:modified>
</cp:coreProperties>
</file>